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snapToGrid="0" snapToObjects="1">
      <p:cViewPr varScale="1">
        <p:scale>
          <a:sx n="39" d="100"/>
          <a:sy n="39" d="100"/>
        </p:scale>
        <p:origin x="60" y="48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2/18/2026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7504572D-A325-468A-B6A9-F5E8B2009CEC}" type="datetime1">
              <a:rPr lang="en-US" smtClean="0"/>
              <a:pPr/>
              <a:t>2/18/2026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TEAM NAME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1FA3E31-9430-445D-AEA3-4991E84EC4C3}" type="datetime1">
              <a:rPr lang="en-US" smtClean="0"/>
              <a:pPr/>
              <a:t>2/18/2026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TEAM NAME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7885D708-3513-44AA-8AE0-C04585F59708}" type="datetime1">
              <a:rPr lang="en-US" smtClean="0"/>
              <a:pPr/>
              <a:t>2/18/2026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TEAM NAME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9C5161B6-4ABF-44BA-820E-07CCC64D0CFC}" type="datetime1">
              <a:rPr lang="en-US" smtClean="0"/>
              <a:pPr/>
              <a:t>2/18/2026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TEAM NAME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8AE5F993-06E9-479A-AB6B-E3DE41958136}" type="datetime1">
              <a:rPr lang="en-US" smtClean="0"/>
              <a:pPr/>
              <a:t>2/18/2026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TEAM NAME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E5B62263-1F3B-47F2-BF53-455DB4D62872}" type="datetime1">
              <a:rPr lang="en-US" smtClean="0"/>
              <a:pPr/>
              <a:t>2/18/2026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TEAM NAME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57ABAE5F-2CD3-4A38-8940-F91EDB2618EE}" type="datetime1">
              <a:rPr lang="en-US" smtClean="0"/>
              <a:pPr/>
              <a:t>2/18/2026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TEAM NAME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33D332D5-26B5-40CE-AFC6-EC4754F42E0E}" type="datetime1">
              <a:rPr lang="en-US" smtClean="0"/>
              <a:pPr/>
              <a:t>2/18/2026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TEAM NAME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AF4B357-F30D-43B9-8E84-B23AA2B764CB}" type="datetime1">
              <a:rPr lang="en-US" smtClean="0"/>
              <a:pPr/>
              <a:t>2/18/2026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TEAM NAME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F6C10EF7-D9FC-4682-9684-270F48001014}" type="datetime1">
              <a:rPr lang="en-US" smtClean="0"/>
              <a:pPr/>
              <a:t>2/18/2026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TEAM NAME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9D769A00-7371-4F37-8A42-60AF5C4B4752}" type="datetime1">
              <a:rPr lang="en-US" smtClean="0"/>
              <a:pPr/>
              <a:t>2/18/2026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TEAM NAME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3425EFD8-8A21-47A5-92DC-8CA9221516E1}" type="datetime1">
              <a:rPr lang="en-US" smtClean="0"/>
              <a:pPr/>
              <a:t>2/18/2026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TEAM NAME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8"/>
            <a:ext cx="10363200" cy="2355557"/>
          </a:xfrm>
        </p:spPr>
        <p:txBody>
          <a:bodyPr/>
          <a:lstStyle/>
          <a:p>
            <a:r>
              <a:rPr lang="en-US" sz="3200" dirty="0"/>
              <a:t>Intra Institutional Innovation Competition</a:t>
            </a:r>
            <a:br>
              <a:rPr lang="en-US" sz="3200" dirty="0"/>
            </a:br>
            <a:r>
              <a:rPr lang="en-US" sz="3200" dirty="0"/>
              <a:t> </a:t>
            </a:r>
            <a:r>
              <a:rPr lang="en-US" sz="3200" b="1" dirty="0">
                <a:solidFill>
                  <a:schemeClr val="tx2"/>
                </a:solidFill>
                <a:latin typeface="Garamond" panose="02020404030301010803" pitchFamily="18" charset="0"/>
              </a:rPr>
              <a:t>YUKTI-2026</a:t>
            </a:r>
            <a:endParaRPr lang="en-IN" sz="3200" b="1" dirty="0">
              <a:solidFill>
                <a:schemeClr val="tx2"/>
              </a:solidFill>
              <a:latin typeface="Garamond" panose="02020404030301010803" pitchFamily="18" charset="0"/>
            </a:endParaRPr>
          </a:p>
        </p:txBody>
      </p:sp>
      <p:sp>
        <p:nvSpPr>
          <p:cNvPr id="10" name="TextBox 9"/>
          <p:cNvSpPr txBox="1"/>
          <p:nvPr/>
        </p:nvSpPr>
        <p:spPr>
          <a:xfrm>
            <a:off x="331285" y="2076450"/>
            <a:ext cx="6758832" cy="2705292"/>
          </a:xfrm>
          <a:prstGeom prst="rect">
            <a:avLst/>
          </a:prstGeom>
          <a:noFill/>
        </p:spPr>
        <p:txBody>
          <a:bodyPr wrap="square" rtlCol="0">
            <a:spAutoFit/>
          </a:bodyPr>
          <a:lstStyle/>
          <a:p>
            <a:endParaRPr lang="en-US" sz="1600" dirty="0"/>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 Title: ML-Based Cervical Cancer Risk Prediction</a:t>
            </a: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Theme:PrototypeStage/</a:t>
            </a:r>
            <a:r>
              <a:rPr lang="en-US" sz="2000" b="1" dirty="0" err="1">
                <a:latin typeface="Arial" panose="020B0604020202020204" pitchFamily="34" charset="0"/>
                <a:cs typeface="Arial" panose="020B0604020202020204" pitchFamily="34" charset="0"/>
              </a:rPr>
              <a:t>ProductsDeveloped</a:t>
            </a:r>
            <a:endParaRPr lang="en-US" sz="20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PS Category- Software/</a:t>
            </a:r>
            <a:r>
              <a:rPr lang="en-US" sz="2000" b="1" dirty="0" err="1">
                <a:latin typeface="Arial" panose="020B0604020202020204" pitchFamily="34" charset="0"/>
                <a:cs typeface="Arial" panose="020B0604020202020204" pitchFamily="34" charset="0"/>
              </a:rPr>
              <a:t>Hardware:Software</a:t>
            </a:r>
            <a:endParaRPr lang="en-US" sz="20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000" b="1" dirty="0" err="1">
                <a:latin typeface="Arial" panose="020B0604020202020204" pitchFamily="34" charset="0"/>
                <a:cs typeface="Arial" panose="020B0604020202020204" pitchFamily="34" charset="0"/>
              </a:rPr>
              <a:t>TeamName</a:t>
            </a:r>
            <a:r>
              <a:rPr lang="en-US" sz="2000" b="1" dirty="0">
                <a:latin typeface="Arial" panose="020B0604020202020204" pitchFamily="34" charset="0"/>
                <a:cs typeface="Arial" panose="020B0604020202020204" pitchFamily="34" charset="0"/>
              </a:rPr>
              <a:t>(</a:t>
            </a:r>
            <a:r>
              <a:rPr lang="en-US" sz="2000" b="1" dirty="0" err="1">
                <a:latin typeface="Arial" panose="020B0604020202020204" pitchFamily="34" charset="0"/>
                <a:cs typeface="Arial" panose="020B0604020202020204" pitchFamily="34" charset="0"/>
              </a:rPr>
              <a:t>Registeredon</a:t>
            </a:r>
            <a:r>
              <a:rPr lang="en-US" sz="2000" b="1" dirty="0">
                <a:latin typeface="Arial" panose="020B0604020202020204" pitchFamily="34" charset="0"/>
                <a:cs typeface="Arial" panose="020B0604020202020204" pitchFamily="34" charset="0"/>
              </a:rPr>
              <a:t> portal):</a:t>
            </a:r>
            <a:r>
              <a:rPr lang="en-US" sz="2000" b="1" dirty="0" err="1">
                <a:latin typeface="Arial" panose="020B0604020202020204" pitchFamily="34" charset="0"/>
                <a:cs typeface="Arial" panose="020B0604020202020204" pitchFamily="34" charset="0"/>
              </a:rPr>
              <a:t>CerviGuard</a:t>
            </a:r>
            <a:endParaRPr lang="en-IN" sz="2000" b="1" dirty="0">
              <a:latin typeface="Arial" panose="020B0604020202020204" pitchFamily="34" charset="0"/>
              <a:cs typeface="Arial" panose="020B0604020202020204" pitchFamily="34" charset="0"/>
            </a:endParaRPr>
          </a:p>
        </p:txBody>
      </p:sp>
      <p:pic>
        <p:nvPicPr>
          <p:cNvPr id="13314" name="Picture 2" descr="C:\Users\MRIET\Downloads\WhatsApp Image 2025-01-09 at 5.37.12 PM.jpeg"/>
          <p:cNvPicPr>
            <a:picLocks noChangeAspect="1" noChangeArrowheads="1"/>
          </p:cNvPicPr>
          <p:nvPr/>
        </p:nvPicPr>
        <p:blipFill>
          <a:blip r:embed="rId2"/>
          <a:srcRect/>
          <a:stretch>
            <a:fillRect/>
          </a:stretch>
        </p:blipFill>
        <p:spPr bwMode="auto">
          <a:xfrm>
            <a:off x="7090117" y="1549692"/>
            <a:ext cx="4656405" cy="4119587"/>
          </a:xfrm>
          <a:prstGeom prst="rect">
            <a:avLst/>
          </a:prstGeom>
          <a:noFill/>
        </p:spPr>
      </p:pic>
      <p:pic>
        <p:nvPicPr>
          <p:cNvPr id="13316" name="Picture 4" descr="C:\Users\MRIET\Downloads\WhatsApp Image 2025-01-17 at 12.15.11 PM.jpeg"/>
          <p:cNvPicPr>
            <a:picLocks noChangeAspect="1" noChangeArrowheads="1"/>
          </p:cNvPicPr>
          <p:nvPr/>
        </p:nvPicPr>
        <p:blipFill>
          <a:blip r:embed="rId3"/>
          <a:srcRect/>
          <a:stretch>
            <a:fillRect/>
          </a:stretch>
        </p:blipFill>
        <p:spPr bwMode="auto">
          <a:xfrm>
            <a:off x="9171464" y="26449"/>
            <a:ext cx="3020536" cy="1244330"/>
          </a:xfrm>
          <a:prstGeom prst="rect">
            <a:avLst/>
          </a:prstGeom>
          <a:noFill/>
        </p:spPr>
      </p:pic>
      <p:pic>
        <p:nvPicPr>
          <p:cNvPr id="11266" name="Picture 2" descr="CMR Technical Campus"/>
          <p:cNvPicPr>
            <a:picLocks noChangeAspect="1" noChangeArrowheads="1"/>
          </p:cNvPicPr>
          <p:nvPr/>
        </p:nvPicPr>
        <p:blipFill>
          <a:blip r:embed="rId4"/>
          <a:srcRect l="11565" t="15152" r="11517" b="15262"/>
          <a:stretch>
            <a:fillRect/>
          </a:stretch>
        </p:blipFill>
        <p:spPr bwMode="auto">
          <a:xfrm>
            <a:off x="277091" y="200366"/>
            <a:ext cx="1246909" cy="1070413"/>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206327" y="2456807"/>
            <a:ext cx="11985673" cy="2800767"/>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3200" b="1" u="sng" dirty="0">
                <a:solidFill>
                  <a:schemeClr val="tx2"/>
                </a:solidFill>
                <a:latin typeface="Arial" pitchFamily="34" charset="0"/>
                <a:cs typeface="Arial" pitchFamily="34" charset="0"/>
              </a:rPr>
              <a:t>Proposed Solution (Describe your Idea/Solution/Prototype)</a:t>
            </a:r>
            <a:endParaRPr lang="en-US" sz="3200" u="sng" dirty="0">
              <a:solidFill>
                <a:schemeClr val="tx2"/>
              </a:solidFill>
              <a:latin typeface="Arial" pitchFamily="34" charset="0"/>
              <a:cs typeface="Arial" pitchFamily="34" charset="0"/>
            </a:endParaRPr>
          </a:p>
          <a:p>
            <a:r>
              <a:rPr lang="en-US" sz="2400" dirty="0"/>
              <a:t>The proposed solution is a web-based machine learning application that predicts cervical cancer risk. It takes user health and lifestyle data through an online form and processes it using a trained ML model. The system analyzes risk factors such as age, sexual history, smoking habits, contraceptive use, and STDs. Based on this input, it generates a probability score and categorizes the user into low, medium, or high-risk groups. This tool aims to support early awareness and preventive healthcare.</a:t>
            </a:r>
            <a:endParaRPr lang="en-US" sz="2000" u="sng" dirty="0">
              <a:solidFill>
                <a:schemeClr val="tx2"/>
              </a:solidFill>
              <a:latin typeface="Arial" pitchFamily="34" charset="0"/>
              <a:cs typeface="Arial" pitchFamily="34" charset="0"/>
            </a:endParaRPr>
          </a:p>
        </p:txBody>
      </p:sp>
      <p:pic>
        <p:nvPicPr>
          <p:cNvPr id="11" name="Picture 2" descr="C:\Users\MRIET\Downloads\WhatsApp Image 2025-01-09 at 5.37.12 PM.jpeg"/>
          <p:cNvPicPr>
            <a:picLocks noChangeAspect="1" noChangeArrowheads="1"/>
          </p:cNvPicPr>
          <p:nvPr/>
        </p:nvPicPr>
        <p:blipFill>
          <a:blip r:embed="rId3"/>
          <a:srcRect/>
          <a:stretch>
            <a:fillRect/>
          </a:stretch>
        </p:blipFill>
        <p:spPr bwMode="auto">
          <a:xfrm>
            <a:off x="9120848" y="107066"/>
            <a:ext cx="2864826" cy="1763937"/>
          </a:xfrm>
          <a:prstGeom prst="rect">
            <a:avLst/>
          </a:prstGeom>
          <a:noFill/>
        </p:spPr>
      </p:pic>
      <p:sp>
        <p:nvSpPr>
          <p:cNvPr id="8" name="Date Placeholder 7"/>
          <p:cNvSpPr>
            <a:spLocks noGrp="1"/>
          </p:cNvSpPr>
          <p:nvPr>
            <p:ph type="dt" sz="half" idx="10"/>
          </p:nvPr>
        </p:nvSpPr>
        <p:spPr/>
        <p:txBody>
          <a:bodyPr/>
          <a:lstStyle/>
          <a:p>
            <a:fld id="{C3E015D6-6754-4E75-894C-94C0F49FDA3D}" type="datetime1">
              <a:rPr lang="en-US" smtClean="0">
                <a:solidFill>
                  <a:schemeClr val="tx1"/>
                </a:solidFill>
              </a:rPr>
              <a:pPr/>
              <a:t>2/18/2026</a:t>
            </a:fld>
            <a:endParaRPr lang="en-US" dirty="0">
              <a:solidFill>
                <a:schemeClr val="tx1"/>
              </a:solidFill>
            </a:endParaRPr>
          </a:p>
        </p:txBody>
      </p:sp>
      <p:sp>
        <p:nvSpPr>
          <p:cNvPr id="10" name="Footer Placeholder 9"/>
          <p:cNvSpPr>
            <a:spLocks noGrp="1"/>
          </p:cNvSpPr>
          <p:nvPr>
            <p:ph type="ftr" sz="quarter" idx="11"/>
          </p:nvPr>
        </p:nvSpPr>
        <p:spPr/>
        <p:txBody>
          <a:bodyPr/>
          <a:lstStyle/>
          <a:p>
            <a:pPr>
              <a:defRPr/>
            </a:pPr>
            <a:r>
              <a:rPr lang="en-US" dirty="0" err="1">
                <a:solidFill>
                  <a:schemeClr val="tx1"/>
                </a:solidFill>
              </a:rPr>
              <a:t>CerviGuard</a:t>
            </a:r>
            <a:endParaRPr lang="en-US" dirty="0">
              <a:solidFill>
                <a:schemeClr val="tx1"/>
              </a:solidFill>
            </a:endParaRPr>
          </a:p>
        </p:txBody>
      </p:sp>
      <p:pic>
        <p:nvPicPr>
          <p:cNvPr id="12" name="Picture 2" descr="CMR Technical Campus"/>
          <p:cNvPicPr>
            <a:picLocks noChangeAspect="1" noChangeArrowheads="1"/>
          </p:cNvPicPr>
          <p:nvPr/>
        </p:nvPicPr>
        <p:blipFill>
          <a:blip r:embed="rId4"/>
          <a:srcRect l="11565" t="15152" r="11517" b="15262"/>
          <a:stretch>
            <a:fillRect/>
          </a:stretch>
        </p:blipFill>
        <p:spPr bwMode="auto">
          <a:xfrm>
            <a:off x="277091" y="200366"/>
            <a:ext cx="1246909" cy="1070413"/>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277091" y="1857287"/>
            <a:ext cx="11305309" cy="3539430"/>
          </a:xfrm>
          <a:prstGeom prst="rect">
            <a:avLst/>
          </a:prstGeom>
          <a:noFill/>
          <a:ln w="9525">
            <a:noFill/>
            <a:miter lim="800000"/>
            <a:headEnd/>
            <a:tailEnd/>
          </a:ln>
        </p:spPr>
        <p:txBody>
          <a:bodyPr wrap="square">
            <a:spAutoFit/>
          </a:bodyPr>
          <a:lstStyle/>
          <a:p>
            <a:r>
              <a:rPr lang="en-US" sz="3200" dirty="0"/>
              <a:t>The system is developed using Python and Flask for the web interface. A machine learning model is trained using a dataset of cervical cancer risk factors. Missing values are handled using an imputer. The trained model and imputer are saved using </a:t>
            </a:r>
            <a:r>
              <a:rPr lang="en-US" sz="3200" dirty="0" err="1"/>
              <a:t>Joblib</a:t>
            </a:r>
            <a:r>
              <a:rPr lang="en-US" sz="3200" dirty="0"/>
              <a:t>. User inputs are collected through an HTML form, processed using NumPy, and passed to the model for prediction. The output is displayed on the web page with a risk probability.</a:t>
            </a:r>
            <a:endParaRPr lang="en-US" sz="3200" dirty="0">
              <a:latin typeface="Arial" pitchFamily="34" charset="0"/>
              <a:cs typeface="Arial" pitchFamily="34" charset="0"/>
            </a:endParaRPr>
          </a:p>
        </p:txBody>
      </p:sp>
      <p:pic>
        <p:nvPicPr>
          <p:cNvPr id="9" name="Picture 2" descr="C:\Users\MRIET\Downloads\WhatsApp Image 2025-01-09 at 5.37.12 PM.jpeg"/>
          <p:cNvPicPr>
            <a:picLocks noChangeAspect="1" noChangeArrowheads="1"/>
          </p:cNvPicPr>
          <p:nvPr/>
        </p:nvPicPr>
        <p:blipFill>
          <a:blip r:embed="rId3"/>
          <a:srcRect/>
          <a:stretch>
            <a:fillRect/>
          </a:stretch>
        </p:blipFill>
        <p:spPr bwMode="auto">
          <a:xfrm>
            <a:off x="9120848" y="107066"/>
            <a:ext cx="2864826" cy="1763937"/>
          </a:xfrm>
          <a:prstGeom prst="rect">
            <a:avLst/>
          </a:prstGeom>
          <a:noFill/>
        </p:spPr>
      </p:pic>
      <p:sp>
        <p:nvSpPr>
          <p:cNvPr id="8" name="Date Placeholder 7"/>
          <p:cNvSpPr>
            <a:spLocks noGrp="1"/>
          </p:cNvSpPr>
          <p:nvPr>
            <p:ph type="dt" sz="half" idx="10"/>
          </p:nvPr>
        </p:nvSpPr>
        <p:spPr/>
        <p:txBody>
          <a:bodyPr/>
          <a:lstStyle/>
          <a:p>
            <a:fld id="{9D82D0F0-902F-4A9B-988F-54450C9A13FA}" type="datetime1">
              <a:rPr lang="en-US" smtClean="0">
                <a:solidFill>
                  <a:schemeClr val="tx1"/>
                </a:solidFill>
              </a:rPr>
              <a:pPr/>
              <a:t>2/18/2026</a:t>
            </a:fld>
            <a:endParaRPr lang="en-US" dirty="0">
              <a:solidFill>
                <a:schemeClr val="tx1"/>
              </a:solidFill>
            </a:endParaRPr>
          </a:p>
        </p:txBody>
      </p:sp>
      <p:sp>
        <p:nvSpPr>
          <p:cNvPr id="12" name="Footer Placeholder 11"/>
          <p:cNvSpPr>
            <a:spLocks noGrp="1"/>
          </p:cNvSpPr>
          <p:nvPr>
            <p:ph type="ftr" sz="quarter" idx="11"/>
          </p:nvPr>
        </p:nvSpPr>
        <p:spPr/>
        <p:txBody>
          <a:bodyPr/>
          <a:lstStyle/>
          <a:p>
            <a:pPr>
              <a:defRPr/>
            </a:pPr>
            <a:r>
              <a:rPr lang="en-US" dirty="0" err="1">
                <a:solidFill>
                  <a:schemeClr val="tx1"/>
                </a:solidFill>
              </a:rPr>
              <a:t>CerviGuard</a:t>
            </a:r>
            <a:endParaRPr lang="en-US" dirty="0">
              <a:solidFill>
                <a:schemeClr val="tx1"/>
              </a:solidFill>
            </a:endParaRPr>
          </a:p>
        </p:txBody>
      </p:sp>
      <p:pic>
        <p:nvPicPr>
          <p:cNvPr id="13" name="Picture 2" descr="CMR Technical Campus"/>
          <p:cNvPicPr>
            <a:picLocks noChangeAspect="1" noChangeArrowheads="1"/>
          </p:cNvPicPr>
          <p:nvPr/>
        </p:nvPicPr>
        <p:blipFill>
          <a:blip r:embed="rId4"/>
          <a:srcRect l="11565" t="15152" r="11517" b="15262"/>
          <a:stretch>
            <a:fillRect/>
          </a:stretch>
        </p:blipFill>
        <p:spPr bwMode="auto">
          <a:xfrm>
            <a:off x="277091" y="200366"/>
            <a:ext cx="1246909" cy="1070413"/>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6353"/>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320633" y="1956149"/>
            <a:ext cx="11376073" cy="3539430"/>
          </a:xfrm>
          <a:prstGeom prst="rect">
            <a:avLst/>
          </a:prstGeom>
          <a:noFill/>
          <a:ln w="9525">
            <a:noFill/>
            <a:miter lim="800000"/>
            <a:headEnd/>
            <a:tailEnd/>
          </a:ln>
        </p:spPr>
        <p:txBody>
          <a:bodyPr wrap="square">
            <a:spAutoFit/>
          </a:bodyPr>
          <a:lstStyle/>
          <a:p>
            <a:pPr marL="342900" lvl="0" indent="-342900" algn="just">
              <a:buFont typeface="Arial" panose="020B0604020202020204" pitchFamily="34" charset="0"/>
              <a:buChar char="•"/>
              <a:defRPr/>
            </a:pPr>
            <a:r>
              <a:rPr lang="en-US" sz="3200" dirty="0"/>
              <a:t>The project is technically feasible as it uses open-source tools like Python, Flask, and Scikit-learn. It can run on standard computers without high hardware requirements. The dataset and model are lightweight, making deployment easy. Maintenance is simple, and the system can be upgraded with new data. The solution is viable for educational, research, and preliminary health screening purposes.</a:t>
            </a:r>
            <a:endParaRPr kumimoji="0" lang="en-US" sz="32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pic>
        <p:nvPicPr>
          <p:cNvPr id="9" name="Picture 2" descr="C:\Users\MRIET\Downloads\WhatsApp Image 2025-01-09 at 5.37.12 PM.jpeg"/>
          <p:cNvPicPr>
            <a:picLocks noChangeAspect="1" noChangeArrowheads="1"/>
          </p:cNvPicPr>
          <p:nvPr/>
        </p:nvPicPr>
        <p:blipFill>
          <a:blip r:embed="rId3"/>
          <a:srcRect/>
          <a:stretch>
            <a:fillRect/>
          </a:stretch>
        </p:blipFill>
        <p:spPr bwMode="auto">
          <a:xfrm>
            <a:off x="9467556" y="107066"/>
            <a:ext cx="2518117" cy="1763937"/>
          </a:xfrm>
          <a:prstGeom prst="rect">
            <a:avLst/>
          </a:prstGeom>
          <a:noFill/>
        </p:spPr>
      </p:pic>
      <p:sp>
        <p:nvSpPr>
          <p:cNvPr id="8" name="Date Placeholder 7"/>
          <p:cNvSpPr>
            <a:spLocks noGrp="1"/>
          </p:cNvSpPr>
          <p:nvPr>
            <p:ph type="dt" sz="half" idx="10"/>
          </p:nvPr>
        </p:nvSpPr>
        <p:spPr/>
        <p:txBody>
          <a:bodyPr/>
          <a:lstStyle/>
          <a:p>
            <a:fld id="{D1BCD507-C8F9-4A5F-9D06-D1C170671BBA}" type="datetime1">
              <a:rPr lang="en-US" smtClean="0">
                <a:solidFill>
                  <a:schemeClr val="tx1"/>
                </a:solidFill>
              </a:rPr>
              <a:pPr/>
              <a:t>2/18/2026</a:t>
            </a:fld>
            <a:endParaRPr lang="en-US" dirty="0">
              <a:solidFill>
                <a:schemeClr val="tx1"/>
              </a:solidFill>
            </a:endParaRPr>
          </a:p>
        </p:txBody>
      </p:sp>
      <p:sp>
        <p:nvSpPr>
          <p:cNvPr id="12" name="Footer Placeholder 11"/>
          <p:cNvSpPr>
            <a:spLocks noGrp="1"/>
          </p:cNvSpPr>
          <p:nvPr>
            <p:ph type="ftr" sz="quarter" idx="11"/>
          </p:nvPr>
        </p:nvSpPr>
        <p:spPr/>
        <p:txBody>
          <a:bodyPr/>
          <a:lstStyle/>
          <a:p>
            <a:pPr>
              <a:defRPr/>
            </a:pPr>
            <a:r>
              <a:rPr lang="en-US" dirty="0" err="1">
                <a:solidFill>
                  <a:schemeClr val="tx1"/>
                </a:solidFill>
              </a:rPr>
              <a:t>CerviGuard</a:t>
            </a:r>
            <a:endParaRPr lang="en-US" dirty="0">
              <a:solidFill>
                <a:schemeClr val="tx1"/>
              </a:solidFill>
            </a:endParaRPr>
          </a:p>
        </p:txBody>
      </p:sp>
      <p:pic>
        <p:nvPicPr>
          <p:cNvPr id="13" name="Picture 2" descr="CMR Technical Campus"/>
          <p:cNvPicPr>
            <a:picLocks noChangeAspect="1" noChangeArrowheads="1"/>
          </p:cNvPicPr>
          <p:nvPr/>
        </p:nvPicPr>
        <p:blipFill>
          <a:blip r:embed="rId4"/>
          <a:srcRect l="11565" t="15152" r="11517" b="15262"/>
          <a:stretch>
            <a:fillRect/>
          </a:stretch>
        </p:blipFill>
        <p:spPr bwMode="auto">
          <a:xfrm>
            <a:off x="277091" y="200366"/>
            <a:ext cx="1246909" cy="1070413"/>
          </a:xfrm>
          <a:prstGeom prst="rect">
            <a:avLst/>
          </a:prstGeom>
          <a:noFill/>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241708" y="2025694"/>
            <a:ext cx="11708581" cy="3539430"/>
          </a:xfrm>
          <a:prstGeom prst="rect">
            <a:avLst/>
          </a:prstGeom>
          <a:noFill/>
          <a:ln w="9525">
            <a:noFill/>
            <a:miter lim="800000"/>
            <a:headEnd/>
            <a:tailEnd/>
          </a:ln>
        </p:spPr>
        <p:txBody>
          <a:bodyPr wrap="square">
            <a:spAutoFit/>
          </a:bodyPr>
          <a:lstStyle/>
          <a:p>
            <a:pPr marL="342900" lvl="0" indent="-342900" algn="just">
              <a:buFont typeface="Arial" panose="020B0604020202020204" pitchFamily="34" charset="0"/>
              <a:buChar char="•"/>
              <a:defRPr/>
            </a:pPr>
            <a:r>
              <a:rPr lang="en-US" sz="3200" dirty="0"/>
              <a:t>This system helps in early detection of cervical cancer risk, enabling timely medical consultation. It increases health awareness among users, especially women in underserved areas. The tool reduces dependency on expensive diagnostic tests for preliminary screening. It supports doctors and healthcare workers by providing quick risk assessments. Overall, it promotes preventive healthcare and improves decision-making.</a:t>
            </a:r>
            <a:endParaRPr lang="en-US" sz="3200" dirty="0">
              <a:solidFill>
                <a:prstClr val="black"/>
              </a:solidFill>
              <a:latin typeface="Arial" pitchFamily="34" charset="0"/>
              <a:cs typeface="Arial" pitchFamily="34" charset="0"/>
            </a:endParaRPr>
          </a:p>
        </p:txBody>
      </p:sp>
      <p:pic>
        <p:nvPicPr>
          <p:cNvPr id="9" name="Picture 2" descr="C:\Users\MRIET\Downloads\WhatsApp Image 2025-01-09 at 5.37.12 PM.jpeg"/>
          <p:cNvPicPr>
            <a:picLocks noChangeAspect="1" noChangeArrowheads="1"/>
          </p:cNvPicPr>
          <p:nvPr/>
        </p:nvPicPr>
        <p:blipFill>
          <a:blip r:embed="rId3"/>
          <a:srcRect/>
          <a:stretch>
            <a:fillRect/>
          </a:stretch>
        </p:blipFill>
        <p:spPr bwMode="auto">
          <a:xfrm>
            <a:off x="9467556" y="107066"/>
            <a:ext cx="2518117" cy="1763937"/>
          </a:xfrm>
          <a:prstGeom prst="rect">
            <a:avLst/>
          </a:prstGeom>
          <a:noFill/>
        </p:spPr>
      </p:pic>
      <p:sp>
        <p:nvSpPr>
          <p:cNvPr id="8" name="Date Placeholder 7"/>
          <p:cNvSpPr>
            <a:spLocks noGrp="1"/>
          </p:cNvSpPr>
          <p:nvPr>
            <p:ph type="dt" sz="half" idx="10"/>
          </p:nvPr>
        </p:nvSpPr>
        <p:spPr/>
        <p:txBody>
          <a:bodyPr/>
          <a:lstStyle/>
          <a:p>
            <a:fld id="{557E4A23-6141-42F9-88DB-B4D816BFA4D3}" type="datetime1">
              <a:rPr lang="en-US" smtClean="0">
                <a:solidFill>
                  <a:schemeClr val="tx1"/>
                </a:solidFill>
              </a:rPr>
              <a:pPr/>
              <a:t>2/18/2026</a:t>
            </a:fld>
            <a:endParaRPr lang="en-US" dirty="0">
              <a:solidFill>
                <a:schemeClr val="tx1"/>
              </a:solidFill>
            </a:endParaRPr>
          </a:p>
        </p:txBody>
      </p:sp>
      <p:sp>
        <p:nvSpPr>
          <p:cNvPr id="12" name="Footer Placeholder 11"/>
          <p:cNvSpPr>
            <a:spLocks noGrp="1"/>
          </p:cNvSpPr>
          <p:nvPr>
            <p:ph type="ftr" sz="quarter" idx="11"/>
          </p:nvPr>
        </p:nvSpPr>
        <p:spPr/>
        <p:txBody>
          <a:bodyPr/>
          <a:lstStyle/>
          <a:p>
            <a:pPr>
              <a:defRPr/>
            </a:pPr>
            <a:r>
              <a:rPr lang="en-US" dirty="0">
                <a:solidFill>
                  <a:schemeClr val="tx1"/>
                </a:solidFill>
              </a:rPr>
              <a:t>TEAM NAME</a:t>
            </a:r>
          </a:p>
        </p:txBody>
      </p:sp>
      <p:pic>
        <p:nvPicPr>
          <p:cNvPr id="13" name="Picture 2" descr="CMR Technical Campus"/>
          <p:cNvPicPr>
            <a:picLocks noChangeAspect="1" noChangeArrowheads="1"/>
          </p:cNvPicPr>
          <p:nvPr/>
        </p:nvPicPr>
        <p:blipFill>
          <a:blip r:embed="rId4"/>
          <a:srcRect l="11565" t="15152" r="11517" b="15262"/>
          <a:stretch>
            <a:fillRect/>
          </a:stretch>
        </p:blipFill>
        <p:spPr bwMode="auto">
          <a:xfrm>
            <a:off x="277091" y="200366"/>
            <a:ext cx="1246909" cy="1070413"/>
          </a:xfrm>
          <a:prstGeom prst="rect">
            <a:avLst/>
          </a:prstGeom>
          <a:noFill/>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1403349" y="2025694"/>
            <a:ext cx="9385300" cy="3539430"/>
          </a:xfrm>
          <a:prstGeom prst="rect">
            <a:avLst/>
          </a:prstGeom>
          <a:noFill/>
          <a:ln w="9525">
            <a:noFill/>
            <a:miter lim="800000"/>
            <a:headEnd/>
            <a:tailEnd/>
          </a:ln>
        </p:spPr>
        <p:txBody>
          <a:bodyPr wrap="square">
            <a:spAutoFit/>
          </a:bodyPr>
          <a:lstStyle/>
          <a:p>
            <a:r>
              <a:rPr lang="en-US" sz="2800" dirty="0"/>
              <a:t>The project is based on publicly available cervical cancer datasets and machine learning techniques. It uses concepts from data preprocessing, classification algorithms, and medical risk prediction. References include online ML tutorials, Flask documentation, and healthcare research papers on cervical cancer risk factors. Dataset sources such as UCI Machine Learning Repository and standard medical studies were used for training and validation.</a:t>
            </a:r>
          </a:p>
        </p:txBody>
      </p:sp>
      <p:pic>
        <p:nvPicPr>
          <p:cNvPr id="9" name="Picture 2" descr="C:\Users\MRIET\Downloads\WhatsApp Image 2025-01-09 at 5.37.12 PM.jpeg"/>
          <p:cNvPicPr>
            <a:picLocks noChangeAspect="1" noChangeArrowheads="1"/>
          </p:cNvPicPr>
          <p:nvPr/>
        </p:nvPicPr>
        <p:blipFill>
          <a:blip r:embed="rId3"/>
          <a:srcRect/>
          <a:stretch>
            <a:fillRect/>
          </a:stretch>
        </p:blipFill>
        <p:spPr bwMode="auto">
          <a:xfrm>
            <a:off x="9777046" y="107066"/>
            <a:ext cx="2208627" cy="1763937"/>
          </a:xfrm>
          <a:prstGeom prst="rect">
            <a:avLst/>
          </a:prstGeom>
          <a:noFill/>
        </p:spPr>
      </p:pic>
      <p:sp>
        <p:nvSpPr>
          <p:cNvPr id="8" name="Date Placeholder 7"/>
          <p:cNvSpPr>
            <a:spLocks noGrp="1"/>
          </p:cNvSpPr>
          <p:nvPr>
            <p:ph type="dt" sz="half" idx="10"/>
          </p:nvPr>
        </p:nvSpPr>
        <p:spPr/>
        <p:txBody>
          <a:bodyPr/>
          <a:lstStyle/>
          <a:p>
            <a:fld id="{CDD90970-BAD7-4DC1-B5EF-C78E2708A1A0}" type="datetime1">
              <a:rPr lang="en-US" smtClean="0">
                <a:solidFill>
                  <a:schemeClr val="tx1"/>
                </a:solidFill>
              </a:rPr>
              <a:pPr/>
              <a:t>2/18/2026</a:t>
            </a:fld>
            <a:endParaRPr lang="en-US" dirty="0">
              <a:solidFill>
                <a:schemeClr val="tx1"/>
              </a:solidFill>
            </a:endParaRPr>
          </a:p>
        </p:txBody>
      </p:sp>
      <p:sp>
        <p:nvSpPr>
          <p:cNvPr id="12" name="Footer Placeholder 11"/>
          <p:cNvSpPr>
            <a:spLocks noGrp="1"/>
          </p:cNvSpPr>
          <p:nvPr>
            <p:ph type="ftr" sz="quarter" idx="11"/>
          </p:nvPr>
        </p:nvSpPr>
        <p:spPr/>
        <p:txBody>
          <a:bodyPr/>
          <a:lstStyle/>
          <a:p>
            <a:pPr>
              <a:defRPr/>
            </a:pPr>
            <a:r>
              <a:rPr lang="en-US" dirty="0">
                <a:solidFill>
                  <a:schemeClr val="tx1"/>
                </a:solidFill>
              </a:rPr>
              <a:t>TEAM NAME</a:t>
            </a:r>
          </a:p>
        </p:txBody>
      </p:sp>
      <p:pic>
        <p:nvPicPr>
          <p:cNvPr id="13" name="Picture 2" descr="CMR Technical Campus"/>
          <p:cNvPicPr>
            <a:picLocks noChangeAspect="1" noChangeArrowheads="1"/>
          </p:cNvPicPr>
          <p:nvPr/>
        </p:nvPicPr>
        <p:blipFill>
          <a:blip r:embed="rId4"/>
          <a:srcRect l="11565" t="15152" r="11517" b="15262"/>
          <a:stretch>
            <a:fillRect/>
          </a:stretch>
        </p:blipFill>
        <p:spPr bwMode="auto">
          <a:xfrm>
            <a:off x="277091" y="200366"/>
            <a:ext cx="1246909" cy="1070413"/>
          </a:xfrm>
          <a:prstGeom prst="rect">
            <a:avLst/>
          </a:prstGeom>
          <a:noFill/>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7614</TotalTime>
  <Words>445</Words>
  <Application>Microsoft Office PowerPoint</Application>
  <PresentationFormat>Widescreen</PresentationFormat>
  <Paragraphs>32</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Arial</vt:lpstr>
      <vt:lpstr>Calibri</vt:lpstr>
      <vt:lpstr>Garamond</vt:lpstr>
      <vt:lpstr>Times New Roman</vt:lpstr>
      <vt:lpstr>TradeGothic</vt:lpstr>
      <vt:lpstr>Wingdings</vt:lpstr>
      <vt:lpstr>Office Theme</vt:lpstr>
      <vt:lpstr>Intra Institutional Innovation Competition  YUKTI-2026</vt:lpstr>
      <vt:lpstr> IDEA TITLE</vt:lpstr>
      <vt:lpstr>TECHNICAL APPROACH</vt:lpstr>
      <vt:lpstr>FEASIBILITY AND VIABILITY</vt:lpstr>
      <vt:lpstr>IMPACT AND BENEFITS</vt:lpstr>
      <vt:lpstr>RESEARCH  AND REFERENCES</vt:lpstr>
    </vt:vector>
  </TitlesOfParts>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Krishna Chaitanya Vodnala</cp:lastModifiedBy>
  <cp:revision>160</cp:revision>
  <dcterms:created xsi:type="dcterms:W3CDTF">2013-12-12T18:46:50Z</dcterms:created>
  <dcterms:modified xsi:type="dcterms:W3CDTF">2026-02-18T07:18:49Z</dcterms:modified>
</cp:coreProperties>
</file>